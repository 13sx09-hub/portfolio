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Archivo Narrow"/>
      <p:regular r:id="rId15"/>
    </p:embeddedFont>
    <p:embeddedFont>
      <p:font typeface="Bricolage Grotesque"/>
      <p:regular r:id="rId16"/>
    </p:embeddedFont>
    <p:embeddedFont>
      <p:font typeface="Lisu Bosa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xmlns="" Id="rId15" Type="http://schemas.openxmlformats.org/officeDocument/2006/relationships/font" Target="fonts/rId15.fntdata"/><Relationship xmlns="" Id="rId16" Type="http://schemas.openxmlformats.org/officeDocument/2006/relationships/font" Target="fonts/rId16.fntdata"/><Relationship xmlns="" Id="rId17" Type="http://schemas.openxmlformats.org/officeDocument/2006/relationships/font" Target="fonts/rId17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10288" y="4667250"/>
            <a:ext cx="3028950" cy="3028950"/>
          </a:xfrm>
          <a:prstGeom prst="roundRect">
            <a:avLst/>
          </a:prstGeom>
          <a:solidFill>
            <a:srgbClr val="F83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3238" y="4667250"/>
            <a:ext cx="3057525" cy="2028825"/>
          </a:xfrm>
          <a:prstGeom prst="rect">
            <a:avLst/>
          </a:prstGeom>
          <a:solidFill>
            <a:srgbClr val="1C40C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76526"/>
          <a:stretch/>
        </p:blipFill>
        <p:spPr>
          <a:xfrm>
            <a:off x="0" y="4667250"/>
            <a:ext cx="3043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48250" y="285750"/>
            <a:ext cx="38100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36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© 2028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285750" y="285750"/>
            <a:ext cx="3810000" cy="204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140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Freelance graphic designer</a:t>
            </a:r>
            <a:endParaRPr lang="en-US" sz="1140" dirty="0"/>
          </a:p>
        </p:txBody>
      </p:sp>
      <p:sp>
        <p:nvSpPr>
          <p:cNvPr id="7" name="Text 4"/>
          <p:cNvSpPr/>
          <p:nvPr/>
        </p:nvSpPr>
        <p:spPr>
          <a:xfrm>
            <a:off x="285750" y="2833688"/>
            <a:ext cx="8572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1400"/>
              </a:lnSpc>
              <a:buNone/>
            </a:pPr>
            <a:r>
              <a:rPr lang="en-US" sz="14250" b="1" spc="-142" kern="0" dirty="0">
                <a:solidFill>
                  <a:srgbClr val="0299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Porfolio</a:t>
            </a:r>
            <a:endParaRPr lang="en-US" sz="14250" dirty="0"/>
          </a:p>
        </p:txBody>
      </p:sp>
      <p:sp>
        <p:nvSpPr>
          <p:cNvPr id="8" name="Shape 5"/>
          <p:cNvSpPr/>
          <p:nvPr/>
        </p:nvSpPr>
        <p:spPr>
          <a:xfrm>
            <a:off x="4095750" y="1585913"/>
            <a:ext cx="952500" cy="952500"/>
          </a:xfrm>
          <a:prstGeom prst="star5">
            <a:avLst/>
          </a:prstGeom>
          <a:solidFill>
            <a:srgbClr val="FCBE1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63846"/>
          <a:stretch/>
        </p:blipFill>
        <p:spPr>
          <a:xfrm>
            <a:off x="2957513" y="4248150"/>
            <a:ext cx="3228975" cy="8953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24812" y="1171575"/>
            <a:ext cx="1119188" cy="28003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41667"/>
          <a:stretch/>
        </p:blipFill>
        <p:spPr>
          <a:xfrm>
            <a:off x="762000" y="-595312"/>
            <a:ext cx="2547938" cy="833438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85750" y="1885950"/>
            <a:ext cx="8572500" cy="1376363"/>
          </a:xfrm>
          <a:prstGeom prst="rect">
            <a:avLst/>
          </a:prstGeom>
          <a:noFill/>
          <a:ln/>
        </p:spPr>
      </p:sp>
      <p:sp>
        <p:nvSpPr>
          <p:cNvPr id="6" name="Text 1"/>
          <p:cNvSpPr/>
          <p:nvPr/>
        </p:nvSpPr>
        <p:spPr>
          <a:xfrm>
            <a:off x="285750" y="188595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40"/>
              </a:lnSpc>
              <a:buNone/>
            </a:pPr>
            <a:r>
              <a:rPr lang="en-US" sz="8550" b="1" spc="-85" kern="0" dirty="0">
                <a:solidFill>
                  <a:srgbClr val="0299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jang Yeseo</a:t>
            </a:r>
            <a:endParaRPr lang="en-US" sz="8550" dirty="0"/>
          </a:p>
        </p:txBody>
      </p:sp>
      <p:sp>
        <p:nvSpPr>
          <p:cNvPr id="7" name="Shape 2"/>
          <p:cNvSpPr/>
          <p:nvPr/>
        </p:nvSpPr>
        <p:spPr>
          <a:xfrm>
            <a:off x="3069431" y="3014663"/>
            <a:ext cx="3005138" cy="247650"/>
          </a:xfrm>
          <a:prstGeom prst="rect">
            <a:avLst/>
          </a:prstGeom>
          <a:noFill/>
          <a:ln/>
        </p:spPr>
      </p:sp>
      <p:sp>
        <p:nvSpPr>
          <p:cNvPr id="8" name="Text 3"/>
          <p:cNvSpPr/>
          <p:nvPr/>
        </p:nvSpPr>
        <p:spPr>
          <a:xfrm>
            <a:off x="3069431" y="3014663"/>
            <a:ext cx="6524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Branding</a:t>
            </a:r>
            <a:endParaRPr lang="en-US" sz="1425" dirty="0"/>
          </a:p>
        </p:txBody>
      </p:sp>
      <p:sp>
        <p:nvSpPr>
          <p:cNvPr id="9" name="Shape 4"/>
          <p:cNvSpPr/>
          <p:nvPr/>
        </p:nvSpPr>
        <p:spPr>
          <a:xfrm>
            <a:off x="3798094" y="3119438"/>
            <a:ext cx="38100" cy="38100"/>
          </a:xfrm>
          <a:prstGeom prst="ellipse">
            <a:avLst/>
          </a:prstGeom>
          <a:solidFill>
            <a:srgbClr val="7F4D1F"/>
          </a:solidFill>
          <a:ln/>
        </p:spPr>
      </p:sp>
      <p:sp>
        <p:nvSpPr>
          <p:cNvPr id="10" name="Text 5"/>
          <p:cNvSpPr/>
          <p:nvPr/>
        </p:nvSpPr>
        <p:spPr>
          <a:xfrm>
            <a:off x="3912394" y="3014663"/>
            <a:ext cx="7477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Illustration</a:t>
            </a:r>
            <a:endParaRPr lang="en-US" sz="1425" dirty="0"/>
          </a:p>
        </p:txBody>
      </p:sp>
      <p:sp>
        <p:nvSpPr>
          <p:cNvPr id="11" name="Shape 6"/>
          <p:cNvSpPr/>
          <p:nvPr/>
        </p:nvSpPr>
        <p:spPr>
          <a:xfrm>
            <a:off x="4736306" y="3119438"/>
            <a:ext cx="38100" cy="38100"/>
          </a:xfrm>
          <a:prstGeom prst="ellipse">
            <a:avLst/>
          </a:prstGeom>
          <a:solidFill>
            <a:srgbClr val="7F4D1F"/>
          </a:solidFill>
          <a:ln/>
        </p:spPr>
      </p:sp>
      <p:sp>
        <p:nvSpPr>
          <p:cNvPr id="12" name="Text 7"/>
          <p:cNvSpPr/>
          <p:nvPr/>
        </p:nvSpPr>
        <p:spPr>
          <a:xfrm>
            <a:off x="4850606" y="3014663"/>
            <a:ext cx="5429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Collage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5469731" y="3119438"/>
            <a:ext cx="38100" cy="38100"/>
          </a:xfrm>
          <a:prstGeom prst="ellipse">
            <a:avLst/>
          </a:prstGeom>
          <a:solidFill>
            <a:srgbClr val="7F4D1F"/>
          </a:solidFill>
          <a:ln/>
        </p:spPr>
      </p:sp>
      <p:sp>
        <p:nvSpPr>
          <p:cNvPr id="14" name="Text 9"/>
          <p:cNvSpPr/>
          <p:nvPr/>
        </p:nvSpPr>
        <p:spPr>
          <a:xfrm>
            <a:off x="5584031" y="3014663"/>
            <a:ext cx="49053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Motion</a:t>
            </a:r>
            <a:endParaRPr lang="en-US" sz="14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5143500"/>
          </a:xfrm>
          <a:prstGeom prst="rect">
            <a:avLst/>
          </a:prstGeom>
          <a:solidFill>
            <a:srgbClr val="7F4D1F"/>
          </a:solidFill>
          <a:ln/>
        </p:spPr>
      </p:sp>
      <p:sp>
        <p:nvSpPr>
          <p:cNvPr id="3" name="Text 1"/>
          <p:cNvSpPr/>
          <p:nvPr/>
        </p:nvSpPr>
        <p:spPr>
          <a:xfrm>
            <a:off x="4081463" y="257175"/>
            <a:ext cx="7143750" cy="3981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영양사로 10년 근무하고 육아휴직으로 8년을 쉬었습니다. 하지만 10년동안 근무했던 경험은 저에게 아직도 큰 경험이며,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다시 일할 수 있는 용기를 줍니다. 초반 현대그린푸드에 영양사로 들어가 아산 현대자동차(차체,델타,의장식당)에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 일하며 1000식 이상 단체급식을 경험하였고, 현대아산병원에서 치료식을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제공하며 경험을 쌓았습니다. 그리고 현대백화점 미아점에도 근무해 백화점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아침 샌드위치 김밥도 팔고, 점심 300식도 2시간30분 긴 시간 배식도 하였습니다. 현대그린푸드에서 신세계푸드로 이직해 영원무역(노스페이스:오피스)에서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근무하며 위생 1등을 받았으며, 이마트영등포점에서 일하며 자판기도 관리하고,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주말근무를 하며 경험을 쌓았습니다 그 이후 신세계아이앤씨로 근무하였고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결혼,출산으로 퇴사를 하였습니다. 신세계푸드를 다니며 벤치마킹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(만원의행복행사)을 했던 경험, 김치봉사,고아원송편봉사 등 행복했던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 경험이 많습니다. 저희 아이들이 초등학교 고학년이 되니 이제 제 손길이 많이 필요하지 않아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 뒤늦게라도 다시 영양사로 근무하고 싶습니다. 영양사로 근무하며 익혔던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위생교육은 집에서도 칼,도마구분사용,식기소독은 생활화되었으며 아이들을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키우며 식단에도 더 신경써 음식을 뚝딱 뚝딱 만들게 되었습니다. 마트,시장에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 가서 식재료를 직접 사 다양하게 만들어 레시피만 있으면 거의 비슷하게 </a:t>
            </a:r>
            <a:endParaRPr lang="en-US" sz="1140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422307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만들 수 있습니다. 제과기능사, 제빵기능사도 취득했습니다.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285750" y="3476625"/>
            <a:ext cx="3238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7125" b="1" spc="-71" kern="0" dirty="0">
                <a:solidFill>
                  <a:srgbClr val="DAE8F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About</a:t>
            </a:r>
            <a:endParaRPr lang="en-US" sz="7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088" y="1838325"/>
            <a:ext cx="5681663" cy="266700"/>
          </a:xfrm>
          <a:prstGeom prst="roundRect">
            <a:avLst>
              <a:gd name="adj" fmla="val 3425143"/>
            </a:avLst>
          </a:prstGeom>
          <a:solidFill>
            <a:srgbClr val="422307"/>
          </a:solidFill>
          <a:ln/>
        </p:spPr>
      </p:sp>
      <p:sp>
        <p:nvSpPr>
          <p:cNvPr id="3" name="Text 1"/>
          <p:cNvSpPr/>
          <p:nvPr/>
        </p:nvSpPr>
        <p:spPr>
          <a:xfrm>
            <a:off x="414338" y="1914525"/>
            <a:ext cx="1712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FBF9EA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STUDIO</a:t>
            </a:r>
            <a:endParaRPr lang="en-US" sz="570" dirty="0"/>
          </a:p>
        </p:txBody>
      </p:sp>
      <p:sp>
        <p:nvSpPr>
          <p:cNvPr id="4" name="Text 2"/>
          <p:cNvSpPr/>
          <p:nvPr/>
        </p:nvSpPr>
        <p:spPr>
          <a:xfrm>
            <a:off x="2202656" y="1914525"/>
            <a:ext cx="19145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FBF9EA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ROLE</a:t>
            </a:r>
            <a:endParaRPr lang="en-US" sz="570" dirty="0"/>
          </a:p>
        </p:txBody>
      </p:sp>
      <p:sp>
        <p:nvSpPr>
          <p:cNvPr id="5" name="Text 3"/>
          <p:cNvSpPr/>
          <p:nvPr/>
        </p:nvSpPr>
        <p:spPr>
          <a:xfrm>
            <a:off x="4193381" y="1914525"/>
            <a:ext cx="17121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FBF9EA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YEARS</a:t>
            </a:r>
            <a:endParaRPr lang="en-US" sz="57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5750" y="2105025"/>
            <a:ext cx="5810250" cy="583406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5750" y="2800350"/>
            <a:ext cx="5810250" cy="5929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5750" y="28575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7125" b="1" spc="-71" kern="0" dirty="0">
                <a:solidFill>
                  <a:srgbClr val="1C40C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Experience</a:t>
            </a:r>
            <a:endParaRPr lang="en-US" sz="7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0" cy="5143500"/>
          </a:xfrm>
          <a:prstGeom prst="rect">
            <a:avLst/>
          </a:prstGeom>
          <a:solidFill>
            <a:srgbClr val="1C40CF"/>
          </a:solidFill>
          <a:ln/>
        </p:spPr>
      </p:sp>
      <p:sp>
        <p:nvSpPr>
          <p:cNvPr id="3" name="Text 1"/>
          <p:cNvSpPr/>
          <p:nvPr/>
        </p:nvSpPr>
        <p:spPr>
          <a:xfrm>
            <a:off x="4381500" y="2381250"/>
            <a:ext cx="4762500" cy="1866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식단관리</a:t>
            </a:r>
            <a:endParaRPr lang="en-US" sz="1425" dirty="0"/>
          </a:p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식자재관리</a:t>
            </a:r>
            <a:endParaRPr lang="en-US" sz="1425" dirty="0"/>
          </a:p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재고관리</a:t>
            </a:r>
            <a:endParaRPr lang="en-US" sz="1425" dirty="0"/>
          </a:p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매출관리,원가관리</a:t>
            </a:r>
            <a:endParaRPr lang="en-US" sz="1425" dirty="0"/>
          </a:p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고객관리</a:t>
            </a:r>
            <a:endParaRPr lang="en-US" sz="1425" dirty="0"/>
          </a:p>
          <a:p>
            <a:pPr algn="l" marL="342900" indent="-342900">
              <a:lnSpc>
                <a:spcPts val="1852"/>
              </a:lnSpc>
              <a:buSzPct val="100000"/>
              <a:buChar char="•"/>
            </a:pPr>
            <a:r>
              <a:rPr lang="en-US" sz="1425" dirty="0">
                <a:solidFill>
                  <a:srgbClr val="1C40CF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행사(종무식)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0" y="1809750"/>
            <a:ext cx="408146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7125" b="1" spc="-71" kern="0" dirty="0">
                <a:solidFill>
                  <a:srgbClr val="DAE8F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Dietitians Do</a:t>
            </a:r>
            <a:endParaRPr lang="en-US" sz="7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1250" y="4860131"/>
            <a:ext cx="8382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03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7143750" y="4843463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926" spc="-19" kern="0" dirty="0">
                <a:solidFill>
                  <a:srgbClr val="000000">
                    <a:alpha val="99000"/>
                  </a:srgbClr>
                </a:solidFill>
                <a:latin typeface="Lisu Bosa" pitchFamily="34" charset="0"/>
                <a:ea typeface="Lisu Bosa" pitchFamily="34" charset="-122"/>
                <a:cs typeface="Lisu Bosa" pitchFamily="34" charset="-120"/>
              </a:rPr>
              <a:t>Aetherfield</a:t>
            </a:r>
            <a:endParaRPr lang="en-US" sz="926" dirty="0"/>
          </a:p>
        </p:txBody>
      </p:sp>
      <p:sp>
        <p:nvSpPr>
          <p:cNvPr id="4" name="Text 2"/>
          <p:cNvSpPr/>
          <p:nvPr/>
        </p:nvSpPr>
        <p:spPr>
          <a:xfrm>
            <a:off x="3143250" y="4860131"/>
            <a:ext cx="8382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02</a:t>
            </a:r>
            <a:endParaRPr lang="en-US" sz="570" dirty="0"/>
          </a:p>
        </p:txBody>
      </p:sp>
      <p:sp>
        <p:nvSpPr>
          <p:cNvPr id="5" name="Text 3"/>
          <p:cNvSpPr/>
          <p:nvPr/>
        </p:nvSpPr>
        <p:spPr>
          <a:xfrm>
            <a:off x="4095750" y="4843463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926" spc="-19" kern="0" dirty="0">
                <a:solidFill>
                  <a:srgbClr val="000000">
                    <a:alpha val="99000"/>
                  </a:srgbClr>
                </a:solidFill>
                <a:latin typeface="Lisu Bosa" pitchFamily="34" charset="0"/>
                <a:ea typeface="Lisu Bosa" pitchFamily="34" charset="-122"/>
                <a:cs typeface="Lisu Bosa" pitchFamily="34" charset="-120"/>
              </a:rPr>
              <a:t>Color Holding</a:t>
            </a:r>
            <a:endParaRPr lang="en-US" sz="926" dirty="0"/>
          </a:p>
        </p:txBody>
      </p:sp>
      <p:sp>
        <p:nvSpPr>
          <p:cNvPr id="6" name="Text 4"/>
          <p:cNvSpPr/>
          <p:nvPr/>
        </p:nvSpPr>
        <p:spPr>
          <a:xfrm>
            <a:off x="95250" y="4860131"/>
            <a:ext cx="838200" cy="9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4"/>
              </a:lnSpc>
              <a:buNone/>
            </a:pPr>
            <a:r>
              <a:rPr lang="en-US" sz="570" spc="34" kern="0" dirty="0">
                <a:solidFill>
                  <a:srgbClr val="000000">
                    <a:alpha val="99000"/>
                  </a:srgbClr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01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1047750" y="4843463"/>
            <a:ext cx="190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ts val="926"/>
              </a:lnSpc>
              <a:buNone/>
            </a:pPr>
            <a:r>
              <a:rPr lang="en-US" sz="926" spc="-19" kern="0" dirty="0">
                <a:solidFill>
                  <a:srgbClr val="000000">
                    <a:alpha val="99000"/>
                  </a:srgbClr>
                </a:solidFill>
                <a:latin typeface="Lisu Bosa" pitchFamily="34" charset="0"/>
                <a:ea typeface="Lisu Bosa" pitchFamily="34" charset="-122"/>
                <a:cs typeface="Lisu Bosa" pitchFamily="34" charset="-120"/>
              </a:rPr>
              <a:t>Split Signal</a:t>
            </a:r>
            <a:endParaRPr lang="en-US" sz="926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0" y="2381250"/>
            <a:ext cx="3048000" cy="22860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48000" y="2381250"/>
            <a:ext cx="3048000" cy="22860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0" y="2381250"/>
            <a:ext cx="3048000" cy="2286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5750" y="28575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7125" b="1" spc="-71" kern="0" dirty="0">
                <a:solidFill>
                  <a:srgbClr val="029902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Projects</a:t>
            </a:r>
            <a:endParaRPr lang="en-US" sz="7125" dirty="0"/>
          </a:p>
        </p:txBody>
      </p:sp>
      <p:sp>
        <p:nvSpPr>
          <p:cNvPr id="12" name="Shape 7"/>
          <p:cNvSpPr/>
          <p:nvPr/>
        </p:nvSpPr>
        <p:spPr>
          <a:xfrm rot="5400000">
            <a:off x="2809875" y="4905375"/>
            <a:ext cx="476250" cy="0"/>
          </a:xfrm>
          <a:prstGeom prst="line">
            <a:avLst/>
          </a:prstGeom>
          <a:noFill/>
          <a:ln w="4524">
            <a:solidFill>
              <a:srgbClr val="C2C2C2">
                <a:alpha val="5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 rot="5400000">
            <a:off x="5853113" y="4905375"/>
            <a:ext cx="476250" cy="0"/>
          </a:xfrm>
          <a:prstGeom prst="line">
            <a:avLst/>
          </a:prstGeom>
          <a:noFill/>
          <a:ln w="4524">
            <a:solidFill>
              <a:srgbClr val="C2C2C2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99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995" b="1" spc="-20" kern="0" dirty="0">
                <a:solidFill>
                  <a:srgbClr val="DAE8F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– 01</a:t>
            </a:r>
            <a:endParaRPr lang="en-US" sz="1995" dirty="0"/>
          </a:p>
        </p:txBody>
      </p:sp>
      <p:sp>
        <p:nvSpPr>
          <p:cNvPr id="3" name="Text 1"/>
          <p:cNvSpPr/>
          <p:nvPr/>
        </p:nvSpPr>
        <p:spPr>
          <a:xfrm>
            <a:off x="285750" y="3028950"/>
            <a:ext cx="85725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6840"/>
              </a:lnSpc>
              <a:buNone/>
            </a:pPr>
            <a:r>
              <a:rPr lang="en-US" sz="8550" b="1" spc="-85" kern="0" dirty="0">
                <a:solidFill>
                  <a:srgbClr val="DAE8F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Project</a:t>
            </a:r>
            <a:endParaRPr lang="en-US" sz="8550" dirty="0"/>
          </a:p>
          <a:p>
            <a:pPr algn="l" indent="0" marL="0">
              <a:lnSpc>
                <a:spcPts val="6840"/>
              </a:lnSpc>
              <a:buNone/>
            </a:pPr>
            <a:r>
              <a:rPr lang="en-US" sz="8550" b="1" spc="-85" kern="0" dirty="0">
                <a:solidFill>
                  <a:srgbClr val="DAE8F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Name</a:t>
            </a:r>
            <a:endParaRPr lang="en-US" sz="8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10439" t="0" b="8292"/>
          <a:stretch/>
        </p:blipFill>
        <p:spPr>
          <a:xfrm>
            <a:off x="7745370" y="95250"/>
            <a:ext cx="1194290" cy="12158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 rot="600000">
            <a:off x="8129497" y="622203"/>
            <a:ext cx="552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95"/>
              </a:lnSpc>
              <a:buNone/>
            </a:pPr>
            <a:r>
              <a:rPr lang="en-US" sz="1995" b="1" spc="-20" kern="0" dirty="0">
                <a:solidFill>
                  <a:srgbClr val="422307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2026</a:t>
            </a:r>
            <a:endParaRPr lang="en-US" sz="199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rcRect l="0" r="1386" t="0" b="55026"/>
          <a:stretch/>
        </p:blipFill>
        <p:spPr>
          <a:xfrm>
            <a:off x="5022056" y="3764627"/>
            <a:ext cx="4121944" cy="137887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79227" y="3457575"/>
            <a:ext cx="2246300" cy="134586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33120"/>
          <a:stretch/>
        </p:blipFill>
        <p:spPr>
          <a:xfrm>
            <a:off x="553785" y="-800100"/>
            <a:ext cx="5131966" cy="16156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5"/>
          <a:srcRect l="0" r="29797" t="0" b="15288"/>
          <a:stretch/>
        </p:blipFill>
        <p:spPr>
          <a:xfrm>
            <a:off x="-1321594" y="-464324"/>
            <a:ext cx="3113670" cy="2572891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85750" y="2190750"/>
            <a:ext cx="857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700"/>
              </a:lnSpc>
              <a:buNone/>
            </a:pPr>
            <a:r>
              <a:rPr lang="en-US" sz="7125" b="1" spc="-71" kern="0" dirty="0">
                <a:solidFill>
                  <a:srgbClr val="7F4D1F">
                    <a:alpha val="99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THANK YOU!</a:t>
            </a:r>
            <a:endParaRPr lang="en-US" sz="7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2026-07-30T11:43:50Z</dcterms:created>
  <dcterms:modified xsi:type="dcterms:W3CDTF">2026-07-30T11:43:50Z</dcterms:modified>
</cp:coreProperties>
</file>